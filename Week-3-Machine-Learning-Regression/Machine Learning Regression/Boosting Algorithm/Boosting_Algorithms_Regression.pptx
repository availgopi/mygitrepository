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Boosting Algorithms for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AdaBoost, XGBoost, LightGBM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400" dirty="0"/>
              <a:t>Ensemble learning technique</a:t>
            </a:r>
          </a:p>
          <a:p>
            <a:r>
              <a:rPr sz="2400" dirty="0"/>
              <a:t>Combines multiple weak learners to form a strong learner</a:t>
            </a:r>
          </a:p>
          <a:p>
            <a:r>
              <a:rPr sz="2400" dirty="0"/>
              <a:t>Learners are trained sequentially</a:t>
            </a:r>
          </a:p>
          <a:p>
            <a:r>
              <a:rPr sz="2400" dirty="0"/>
              <a:t>Each model focuses on correcting errors of previous models</a:t>
            </a:r>
            <a:endParaRPr lang="en-IN" sz="2400" dirty="0"/>
          </a:p>
          <a:p>
            <a:r>
              <a:rPr lang="en-IN" sz="2400" dirty="0"/>
              <a:t>Minimize prediction error (loss)</a:t>
            </a:r>
          </a:p>
          <a:p>
            <a:r>
              <a:rPr lang="en-US" sz="2400" dirty="0"/>
              <a:t>Weak learners usually decision trees (stumps)</a:t>
            </a:r>
          </a:p>
          <a:p>
            <a:r>
              <a:rPr lang="en-US" sz="2400" dirty="0"/>
              <a:t>Predictions are combined using weighted sums</a:t>
            </a:r>
          </a:p>
          <a:p>
            <a:r>
              <a:rPr lang="en-IN" sz="2400" dirty="0"/>
              <a:t>Loss functions: MSE, MAE, Huber, etc</a:t>
            </a:r>
          </a:p>
          <a:p>
            <a:r>
              <a:rPr lang="en-US" sz="2400" dirty="0"/>
              <a:t>Commonly used for both classification and regression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DBD7D-6424-01E6-9237-45813B5385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9B8C6D-37F7-5776-9167-93F58CC0E819}"/>
              </a:ext>
            </a:extLst>
          </p:cNvPr>
          <p:cNvSpPr/>
          <p:nvPr/>
        </p:nvSpPr>
        <p:spPr>
          <a:xfrm flipH="1">
            <a:off x="4701540" y="2231136"/>
            <a:ext cx="804672" cy="704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dirty="0"/>
              <a:t>Weak Model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55BD0-4BBD-88D0-6090-9F348963B226}"/>
              </a:ext>
            </a:extLst>
          </p:cNvPr>
          <p:cNvSpPr/>
          <p:nvPr/>
        </p:nvSpPr>
        <p:spPr>
          <a:xfrm flipH="1">
            <a:off x="5688330" y="2226564"/>
            <a:ext cx="804672" cy="704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dirty="0"/>
              <a:t>Weak Model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1B9DFC-B33C-23FE-9EF4-B6EE8CEEEE61}"/>
              </a:ext>
            </a:extLst>
          </p:cNvPr>
          <p:cNvSpPr/>
          <p:nvPr/>
        </p:nvSpPr>
        <p:spPr>
          <a:xfrm flipH="1">
            <a:off x="6621780" y="2231136"/>
            <a:ext cx="804672" cy="704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dirty="0"/>
              <a:t>Weak Model 3</a:t>
            </a: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A2BBCB3-A1A0-9D3F-7C52-C7F6E94AAAB0}"/>
              </a:ext>
            </a:extLst>
          </p:cNvPr>
          <p:cNvSpPr/>
          <p:nvPr/>
        </p:nvSpPr>
        <p:spPr>
          <a:xfrm flipH="1">
            <a:off x="7555230" y="2322576"/>
            <a:ext cx="858012" cy="1106424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accent6"/>
                </a:solidFill>
              </a:rPr>
              <a:t>Strong Model</a:t>
            </a:r>
            <a:endParaRPr sz="14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AdaBoost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2800" dirty="0"/>
              <a:t> </a:t>
            </a:r>
            <a:r>
              <a:rPr lang="en-IN" sz="2800" dirty="0"/>
              <a:t>Also called </a:t>
            </a:r>
            <a:r>
              <a:rPr sz="2800" dirty="0"/>
              <a:t>Adaptive Boosting</a:t>
            </a:r>
          </a:p>
          <a:p>
            <a:r>
              <a:rPr sz="2800" dirty="0"/>
              <a:t>Sequentially trains weak regressors</a:t>
            </a:r>
          </a:p>
          <a:p>
            <a:r>
              <a:rPr sz="2800" dirty="0"/>
              <a:t>Higher weights assigned to poorly predicted samples</a:t>
            </a:r>
          </a:p>
          <a:p>
            <a:r>
              <a:rPr sz="2800" dirty="0"/>
              <a:t>Final prediction is weighted average of all models</a:t>
            </a:r>
          </a:p>
          <a:p>
            <a:r>
              <a:rPr sz="2800" dirty="0"/>
              <a:t>Sensitive to noisy data and outliers</a:t>
            </a:r>
            <a:endParaRPr lang="en-IN" sz="2800" dirty="0"/>
          </a:p>
          <a:p>
            <a:r>
              <a:rPr lang="en-IN" sz="2800" dirty="0"/>
              <a:t>Simple and intuitive.</a:t>
            </a:r>
          </a:p>
          <a:p>
            <a:r>
              <a:rPr lang="en-US" sz="2800" dirty="0"/>
              <a:t>Works well with small datasets</a:t>
            </a:r>
            <a:endParaRPr lang="en-IN" sz="2800" dirty="0"/>
          </a:p>
          <a:p>
            <a:r>
              <a:rPr lang="en-US" sz="2800" dirty="0"/>
              <a:t>Implemented as </a:t>
            </a:r>
            <a:r>
              <a:rPr lang="en-US" sz="2800" dirty="0" err="1"/>
              <a:t>AdaBoostRegressor</a:t>
            </a:r>
            <a:r>
              <a:rPr lang="en-US" sz="2800" dirty="0"/>
              <a:t> in </a:t>
            </a:r>
            <a:r>
              <a:rPr lang="en-US" sz="2800" dirty="0" err="1"/>
              <a:t>sklearn</a:t>
            </a:r>
            <a:endParaRPr lang="en-IN" sz="2800" dirty="0"/>
          </a:p>
          <a:p>
            <a:endParaRPr lang="en-IN" sz="2800" dirty="0"/>
          </a:p>
          <a:p>
            <a:endParaRPr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144DC0-3EFD-C6DA-FDE1-37674B7C6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8264" y="1600200"/>
            <a:ext cx="4288536" cy="4525963"/>
          </a:xfrm>
        </p:spPr>
        <p:txBody>
          <a:bodyPr>
            <a:normAutofit fontScale="77500" lnSpcReduction="20000"/>
          </a:bodyPr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495489-9235-A369-E2A6-EB9AE18BC298}"/>
              </a:ext>
            </a:extLst>
          </p:cNvPr>
          <p:cNvSpPr/>
          <p:nvPr/>
        </p:nvSpPr>
        <p:spPr>
          <a:xfrm>
            <a:off x="4554169" y="2185416"/>
            <a:ext cx="976578" cy="10881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Train Weak Regressor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BBB68-E75C-C942-3B4C-A7F0F0337A1A}"/>
              </a:ext>
            </a:extLst>
          </p:cNvPr>
          <p:cNvSpPr/>
          <p:nvPr/>
        </p:nvSpPr>
        <p:spPr>
          <a:xfrm>
            <a:off x="5978537" y="2185416"/>
            <a:ext cx="976579" cy="10881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Increase Weights of Errors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14C697-878D-503A-7634-8B063C9D511B}"/>
              </a:ext>
            </a:extLst>
          </p:cNvPr>
          <p:cNvSpPr/>
          <p:nvPr/>
        </p:nvSpPr>
        <p:spPr>
          <a:xfrm>
            <a:off x="7402907" y="2185416"/>
            <a:ext cx="976579" cy="10881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Final Weighted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2400" dirty="0"/>
              <a:t>Also called as </a:t>
            </a:r>
            <a:r>
              <a:rPr sz="2400" dirty="0"/>
              <a:t>Extreme Gradient Boosting</a:t>
            </a:r>
          </a:p>
          <a:p>
            <a:r>
              <a:rPr sz="2400" dirty="0"/>
              <a:t>Optimized and scalable gradient boosting</a:t>
            </a:r>
          </a:p>
          <a:p>
            <a:r>
              <a:rPr sz="2400" dirty="0"/>
              <a:t>Uses second-order derivatives (Taylor expansion)</a:t>
            </a:r>
          </a:p>
          <a:p>
            <a:r>
              <a:rPr sz="2400" dirty="0"/>
              <a:t>Built-in regularization (L1, L2)</a:t>
            </a:r>
          </a:p>
          <a:p>
            <a:r>
              <a:rPr sz="2400" dirty="0"/>
              <a:t>Handles missing values automatically</a:t>
            </a:r>
            <a:endParaRPr lang="en-IN" sz="2400" dirty="0"/>
          </a:p>
          <a:p>
            <a:r>
              <a:rPr lang="en-US" sz="2400" dirty="0"/>
              <a:t>High performance and accuracy</a:t>
            </a:r>
          </a:p>
          <a:p>
            <a:r>
              <a:rPr lang="en-US" sz="2400" dirty="0"/>
              <a:t>Parallel processing</a:t>
            </a:r>
          </a:p>
          <a:p>
            <a:r>
              <a:rPr lang="en-US" sz="2400" dirty="0"/>
              <a:t>Regularization reduces overfitting</a:t>
            </a:r>
          </a:p>
          <a:p>
            <a:r>
              <a:rPr lang="en-US" sz="2400" dirty="0"/>
              <a:t>Supports custom loss functions</a:t>
            </a:r>
          </a:p>
          <a:p>
            <a:endParaRPr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58B97-1AA7-4636-7872-CD3633F6E3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0E79B-D968-4EF8-9C81-6DA9CF72257C}"/>
              </a:ext>
            </a:extLst>
          </p:cNvPr>
          <p:cNvSpPr/>
          <p:nvPr/>
        </p:nvSpPr>
        <p:spPr>
          <a:xfrm>
            <a:off x="4722572" y="1920240"/>
            <a:ext cx="1170432" cy="1847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Gradient + Hessian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B29A2-E15A-09D1-E370-C1C6BEE412A1}"/>
              </a:ext>
            </a:extLst>
          </p:cNvPr>
          <p:cNvSpPr/>
          <p:nvPr/>
        </p:nvSpPr>
        <p:spPr>
          <a:xfrm>
            <a:off x="6163056" y="1920240"/>
            <a:ext cx="1170432" cy="1847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Regularized Trees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713A5-78A1-3847-4522-927BC324F96A}"/>
              </a:ext>
            </a:extLst>
          </p:cNvPr>
          <p:cNvSpPr/>
          <p:nvPr/>
        </p:nvSpPr>
        <p:spPr>
          <a:xfrm>
            <a:off x="7461504" y="1920240"/>
            <a:ext cx="1170432" cy="1847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Optimized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/>
              <a:t>Also called as</a:t>
            </a:r>
            <a:r>
              <a:rPr sz="2400" dirty="0"/>
              <a:t> Light Gradient Boosting Machine</a:t>
            </a:r>
          </a:p>
          <a:p>
            <a:r>
              <a:rPr sz="2400" dirty="0"/>
              <a:t>Developed by Microsoft</a:t>
            </a:r>
          </a:p>
          <a:p>
            <a:r>
              <a:rPr sz="2400" dirty="0"/>
              <a:t>Uses histogram-based learning</a:t>
            </a:r>
          </a:p>
          <a:p>
            <a:r>
              <a:rPr sz="2400" dirty="0"/>
              <a:t>Leaf-wise tree growth strategy</a:t>
            </a:r>
          </a:p>
          <a:p>
            <a:r>
              <a:rPr sz="2400" dirty="0"/>
              <a:t>Optimized for large datasets</a:t>
            </a:r>
            <a:endParaRPr lang="en-IN" sz="2400" dirty="0"/>
          </a:p>
          <a:p>
            <a:r>
              <a:rPr lang="en-US" sz="2400" dirty="0"/>
              <a:t>Faster training speed</a:t>
            </a:r>
          </a:p>
          <a:p>
            <a:r>
              <a:rPr lang="en-US" sz="2400" dirty="0"/>
              <a:t>Lower memory usage</a:t>
            </a:r>
          </a:p>
          <a:p>
            <a:r>
              <a:rPr lang="en-US" sz="2400" dirty="0"/>
              <a:t>Better accuracy with large datasets</a:t>
            </a:r>
          </a:p>
          <a:p>
            <a:r>
              <a:rPr lang="en-US" sz="2400" dirty="0"/>
              <a:t>Supports categorical features directly</a:t>
            </a:r>
          </a:p>
          <a:p>
            <a:r>
              <a:rPr lang="en-US" sz="2400" dirty="0"/>
              <a:t>Best suited for big data scenarios</a:t>
            </a:r>
          </a:p>
          <a:p>
            <a:endParaRPr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84E1E-2F07-C23B-C2BD-CC1EDFB0B0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36D57-72E0-B84A-7EBC-4C4E3909285E}"/>
              </a:ext>
            </a:extLst>
          </p:cNvPr>
          <p:cNvSpPr/>
          <p:nvPr/>
        </p:nvSpPr>
        <p:spPr>
          <a:xfrm>
            <a:off x="4770120" y="2016252"/>
            <a:ext cx="1094232" cy="12252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Histogram Binning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4A95-1092-C40D-F790-0C2B8484B55E}"/>
              </a:ext>
            </a:extLst>
          </p:cNvPr>
          <p:cNvSpPr/>
          <p:nvPr/>
        </p:nvSpPr>
        <p:spPr>
          <a:xfrm>
            <a:off x="6144768" y="2016252"/>
            <a:ext cx="896112" cy="12252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Leaf-wise Growth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5249E-4779-B085-D40D-87EA3CF27649}"/>
              </a:ext>
            </a:extLst>
          </p:cNvPr>
          <p:cNvSpPr/>
          <p:nvPr/>
        </p:nvSpPr>
        <p:spPr>
          <a:xfrm>
            <a:off x="7315200" y="2016252"/>
            <a:ext cx="1219200" cy="12252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Fast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243</Words>
  <Application>Microsoft Office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Boosting Algorithms for Regression</vt:lpstr>
      <vt:lpstr>What is Boosting?</vt:lpstr>
      <vt:lpstr>AdaBoost Regression</vt:lpstr>
      <vt:lpstr>XGBoost Regression</vt:lpstr>
      <vt:lpstr>LightGBM Regression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Gopi K</cp:lastModifiedBy>
  <cp:revision>9</cp:revision>
  <dcterms:created xsi:type="dcterms:W3CDTF">2013-01-27T09:14:16Z</dcterms:created>
  <dcterms:modified xsi:type="dcterms:W3CDTF">2025-12-13T20:32:19Z</dcterms:modified>
  <cp:category/>
</cp:coreProperties>
</file>